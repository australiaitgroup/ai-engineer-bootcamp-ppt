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2011680" cy="4740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371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84048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从 Prompt Engineering 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上下文信息系统设计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4048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JR Academy  ·  AI Engineering Bootcamp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4048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457200"/>
            <a:ext cx="2926080" cy="292608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2560320"/>
            <a:ext cx="1828800" cy="1828800"/>
          </a:xfrm>
          <a:prstGeom prst="ellipse">
            <a:avLst/>
          </a:prstGeom>
          <a:solidFill>
            <a:srgbClr val="E8622A">
              <a:alpha val="15000"/>
            </a:srgbClr>
          </a:solidFill>
          <a:ln w="12700">
            <a:solidFill>
              <a:srgbClr val="E8622A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53035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E0"/>
                </a:solidFill>
              </a:rPr>
              <a:t>AI Agent 项目失败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C5E0"/>
                </a:solidFill>
              </a:rPr>
              <a:t>根本原因是上下文管理失败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9EC9"/>
                </a:solidFill>
              </a:rPr>
              <a:t>— Gartner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6012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60120"/>
            <a:ext cx="73152" cy="16916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42416" y="1051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区分两种工程方法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" y="1490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说清楚 Context Engineering 和 Prompt Engineering 的区别：一个是写好一句话，另一个是设计整个信息供给系统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18888" y="96012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18888" y="960120"/>
            <a:ext cx="73152" cy="16916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77256" y="1051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画出架构图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56048" y="1490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画出四种上下文来源（System Instructions / User Input / Tool Results / Memory）的架构图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" y="283464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" y="2834640"/>
            <a:ext cx="73152" cy="16916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42416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做上下文预算分配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" y="336499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对一个真实场景（比如客服 Agent）做上下文预算分配，像管理资源一样管理 token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18888" y="283464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18888" y="283464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77256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代码实现动态组装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56048" y="336499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用 LangChain 的 RunnableParallel 实现动态上下文组装，比串行快 2-3 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Prompt Engineering 不够了？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Prompt Engineering 解决的是「一条消息怎么写」的问题——但真实 AI 应用远不止单次交互：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1353312"/>
            <a:ext cx="2743200" cy="2560320"/>
          </a:xfrm>
          <a:prstGeom prst="rect">
            <a:avLst/>
          </a:prstGeom>
          <a:solidFill>
            <a:srgbClr val="FFF5F5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2120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3C"/>
                </a:solidFill>
              </a:rPr>
              <a:t>对话超出窗口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404872"/>
            <a:ext cx="2377440" cy="0"/>
          </a:xfrm>
          <a:prstGeom prst="line">
            <a:avLst/>
          </a:prstGeom>
          <a:noFill/>
          <a:ln w="10160">
            <a:solidFill>
              <a:srgbClr val="E845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487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用户问了 50 轮之后，前面的对话已超出 context window，模型"忘了"你们讨论过什么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10128" y="1353312"/>
            <a:ext cx="2743200" cy="2560320"/>
          </a:xfrm>
          <a:prstGeom prst="rect">
            <a:avLst/>
          </a:prstGeom>
          <a:solidFill>
            <a:srgbClr val="FFF8F0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10128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44728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22A"/>
                </a:solidFill>
              </a:rPr>
              <a:t>缺乏私有数据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93008" y="2404872"/>
            <a:ext cx="2377440" cy="0"/>
          </a:xfrm>
          <a:prstGeom prst="line">
            <a:avLst/>
          </a:prstGeom>
          <a:noFill/>
          <a:ln w="10160">
            <a:solidFill>
              <a:srgbClr val="E8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47288" y="2487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用户问的问题需要私有数据，模型的训练数据里没有你公司的内部文档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36208" y="1353312"/>
            <a:ext cx="2743200" cy="2560320"/>
          </a:xfrm>
          <a:prstGeom prst="rect">
            <a:avLst/>
          </a:prstGeom>
          <a:solidFill>
            <a:srgbClr val="EEF3FB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36208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37336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BA8"/>
                </a:solidFill>
              </a:rPr>
              <a:t>无法执行操作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19088" y="2404872"/>
            <a:ext cx="2377440" cy="0"/>
          </a:xfrm>
          <a:prstGeom prst="line">
            <a:avLst/>
          </a:prstGeom>
          <a:noFill/>
          <a:ln w="10160">
            <a:solidFill>
              <a:srgbClr val="2B5B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73368" y="2487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用户需要 AI 执行操作，比如查数据库、发邮件、搜网页——模型只能生成文字，做不了这些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4048" y="4041648"/>
            <a:ext cx="841248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0873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Gartner 2026 预测：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03120" y="40873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</a:rPr>
              <a:t>57% 的 AI Agent 项目失败的根本原因是上下文管理失败——不是模型不够好，而是喂给模型的信息不对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定义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14400"/>
            <a:ext cx="8412480" cy="9601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14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Context Engineering  =  为 AI 在每次交互时构建最优上下文的艺术和科学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4048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4E"/>
                </a:solidFill>
              </a:rPr>
              <a:t>类比理解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" y="2377440"/>
            <a:ext cx="3474720" cy="59436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 Engineering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31920" y="2377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480560" y="2377440"/>
            <a:ext cx="4315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2377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4E"/>
                </a:solidFill>
              </a:rPr>
              <a:t>写好一封邮件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4048" y="3154680"/>
            <a:ext cx="3474720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Engineering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31920" y="3154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A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480560" y="3154680"/>
            <a:ext cx="4315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154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4E"/>
                </a:solidFill>
              </a:rPr>
              <a:t>管理整个信息系统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4048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Context Engineering 要决定的问题：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4048" y="427939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给 AI 看哪些文档？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4048" y="455371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加载哪些工具？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84048" y="482803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4800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保留多少对话历史？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81728" y="427939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这些信息怎么排列？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681728" y="455371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总共不能超过多少 token？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四种上下文来源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1874520"/>
            <a:ext cx="2011680" cy="11887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6616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Window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86868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868680"/>
            <a:ext cx="246888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868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System Instructions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7472" y="1289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系统指令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1563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示例：角色定义、安全边界、输出格式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7472" y="1874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特点：固定，每次都加载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697480" y="1417320"/>
            <a:ext cx="868680" cy="640080"/>
          </a:xfrm>
          <a:prstGeom prst="line">
            <a:avLst/>
          </a:prstGeom>
          <a:noFill/>
          <a:ln w="15240">
            <a:solidFill>
              <a:srgbClr val="2B5BA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172200" y="86868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868680"/>
            <a:ext cx="246888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45352" y="868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💬  User Input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45352" y="1289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用户输入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45352" y="1563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示例：问题、上传的文件、选择的选项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45352" y="1874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22A"/>
                </a:solidFill>
              </a:rPr>
              <a:t>特点：每次不同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72200" y="1417320"/>
            <a:ext cx="-594360" cy="640080"/>
          </a:xfrm>
          <a:prstGeom prst="line">
            <a:avLst/>
          </a:prstGeom>
          <a:noFill/>
          <a:ln w="15240">
            <a:solidFill>
              <a:srgbClr val="E8622A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274320" y="324612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246120"/>
            <a:ext cx="2468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🔧  Tool Results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工具结果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7472" y="3941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示例：API 响应、数据库查询、搜索结果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4747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特点：按需加载，可能很大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697480" y="3611880"/>
            <a:ext cx="868680" cy="-77724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6172200" y="324612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72200" y="3246120"/>
            <a:ext cx="24688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45352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  Memory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4535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记忆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45352" y="3941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示例：对话摘要、用户偏好、长期记忆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4535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特点：需要压缩管理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172200" y="3611880"/>
            <a:ext cx="-594360" cy="-777240"/>
          </a:xfrm>
          <a:prstGeom prst="line">
            <a:avLst/>
          </a:prstGeom>
          <a:noFill/>
          <a:ln w="15240">
            <a:solidFill>
              <a:srgbClr val="7C3AED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384048" y="4754880"/>
            <a:ext cx="8412480" cy="256032"/>
          </a:xfrm>
          <a:prstGeom prst="rect">
            <a:avLst/>
          </a:prstGeom>
          <a:solidFill>
            <a:srgbClr val="EEF3FB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" y="47640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BA8"/>
                </a:solidFill>
              </a:rPr>
              <a:t>这四种来源贯穿整个 Bootcamp：Phase 2（RAG） → Phase 3（Agent 工具） → Phase 4（模型优化）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上下文窗口 = "预算"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GPT-4o 128K / Claude 200K / Gemini 1M——听起来很大，实际工程中你很快发现不够用。像管理预算一样管理 context window：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System Prompt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335024"/>
            <a:ext cx="402336" cy="27432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9504" y="12984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~2K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48456" y="129844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固定开销，每次都有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" y="1773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用户画像摘要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68880" y="1810512"/>
            <a:ext cx="274320" cy="2743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1488" y="17739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~1K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7739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动态，从用户数据库拉取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84048" y="2249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最近对话历史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468880" y="2286000"/>
            <a:ext cx="8549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42132" y="22494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~4K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01084" y="2249424"/>
            <a:ext cx="4265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滑动窗口，保留最近 5-10 轮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4048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知识库检索结果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68880" y="2761488"/>
            <a:ext cx="165963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46804" y="27249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~8K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05756" y="2724912"/>
            <a:ext cx="3461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RAG 检索的 top-5 文档片段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4048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工具调用结果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68880" y="3236976"/>
            <a:ext cx="854964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42132" y="3200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</a:rPr>
              <a:t>~4K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01084" y="3200400"/>
            <a:ext cx="4265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Agent 执行工具后的返回值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84048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当前用户输入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468880" y="3712464"/>
            <a:ext cx="27432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61488" y="36758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</a:rPr>
              <a:t>~1K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520440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必须保留，不能砍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4048" y="4151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预留给 AI 回答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468880" y="4187952"/>
            <a:ext cx="854964" cy="2743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42132" y="41513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~4K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01084" y="4151376"/>
            <a:ext cx="4265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输出空间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84048" y="4663440"/>
            <a:ext cx="8321040" cy="0"/>
          </a:xfrm>
          <a:prstGeom prst="line">
            <a:avLst/>
          </a:prstGeom>
          <a:noFill/>
          <a:ln w="12700">
            <a:solidFill>
              <a:srgbClr val="1A1F4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" y="4681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已用：~24K / 128K  总预算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29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剩余：104K 可弹性使用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预算管理四原则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6012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60120"/>
            <a:ext cx="420624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96012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最高优先级：System Prompt + 当前任务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" y="1453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没有 System Prompt，AI 会"忘记"自己的角色和规则。当前任务直接决定回答质量。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3776" y="2276856"/>
            <a:ext cx="3986784" cy="320040"/>
          </a:xfrm>
          <a:prstGeom prst="rect">
            <a:avLst/>
          </a:prstGeom>
          <a:solidFill>
            <a:srgbClr val="2B5BA8">
              <a:alpha val="12000"/>
            </a:srgbClr>
          </a:solidFill>
          <a:ln w="12700">
            <a:solidFill>
              <a:srgbClr val="2B5BA8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5BA8"/>
                </a:solidFill>
              </a:rPr>
              <a:t>💡 考试时先看题目要求和参考资料，不是把笔记本全搬进考场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818888" y="96012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18888" y="960120"/>
            <a:ext cx="420624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8616" y="96012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压缩而不是丢弃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28616" y="1453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100 轮对话不要全塞进去。每 10 轮让 AI 生成摘要（几百 token）。保留：关键决策、用户偏好、重要事实。丢弃：寒暄、重复、过时信息。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28616" y="2276856"/>
            <a:ext cx="3986784" cy="320040"/>
          </a:xfrm>
          <a:prstGeom prst="rect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622A"/>
                </a:solidFill>
              </a:rPr>
              <a:t>💡 摘要保留信号，去除噪音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288036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84048" y="288036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" y="288036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按需加载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" y="337413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不要预先塞入所有可能用到的文档。用户问什么再去检索相关内容。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3776" y="4197096"/>
            <a:ext cx="3986784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215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💡 这就是 RAG 的核心思想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18888" y="288036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18888" y="2880360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288036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预留输出空间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28616" y="337413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别把 context window 用满，留 10-20% 给 AI 回答。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928616" y="4197096"/>
            <a:ext cx="3986784" cy="3200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83480" y="4215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💡 128K 窗口实测超过 20K tokens 效果开始下降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动态上下文组装：客服 Agent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每次用户发消息，代码需要动态组装上下文——不是每次都加载所有信息：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50292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216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build_customer_service_context()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508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build_customer_service_context(user_id, message):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5488" y="1728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固定部分 — 每次都加载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19476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= load_system_prompt('cs_v3.txt')  # ~500 tokens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5488" y="2167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动态 — 用户画像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" y="2386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 = db.get_user_profile(user_id)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5488" y="2606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动态 — 最近 5 轮对话（滑动窗口）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5488" y="28254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recent = get_recent_messages(user_id, last_n=5)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5488" y="3044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动态 — 知识库检索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" y="32644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 = rag_search(message, top_k=3)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5488" y="34838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5. 条件加载 — 只在提到订单时查询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488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order_info = ""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488" y="39227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'订单' in message or '退款' in message: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5488" y="41422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order_info = get_recent_orders(user_id)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7840" y="1335024"/>
            <a:ext cx="329184" cy="329184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89320" y="12984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System Prompt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89320" y="1517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固定加载，每次都有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2029968"/>
            <a:ext cx="329184" cy="329184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89320" y="1993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用户画像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89320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从数据库动态拉取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577840" y="27249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89320" y="2688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对话历史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89320" y="29077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滑动窗口，仅最近5轮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77840" y="341985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989320" y="33832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知识库检索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989320" y="3602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RAG 按需检索 top-3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577840" y="4114800"/>
            <a:ext cx="329184" cy="3291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778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989320" y="40782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订单信息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989320" y="4297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条件加载，按关键词触发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💡 关键：订单信息只在用户提到"订单""退款"时才查询——按需加载节省 token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动态上下文组装：场景对比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没有万能的上下文组装方案——每个场景都要单独设计：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88720"/>
            <a:ext cx="411480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118872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客服 Agent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84048" y="171907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792224"/>
            <a:ext cx="548640" cy="237744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92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固定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78992" y="171907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System Prompt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212848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286000"/>
            <a:ext cx="548640" cy="23774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286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78992" y="22128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用户画像（VIP / 普通）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84048" y="270662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779776"/>
            <a:ext cx="5486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7797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078992" y="27066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最近 5 轮对话历史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84048" y="3200400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73552"/>
            <a:ext cx="5486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273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078992" y="32004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FAQ 知识库检索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84048" y="3694176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3767328"/>
            <a:ext cx="548640" cy="23774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767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条件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078992" y="36941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订单信息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" y="4187952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4261104"/>
            <a:ext cx="548640" cy="23774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必须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078992" y="41879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当前用户输入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663440" y="1188720"/>
            <a:ext cx="411480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73168" y="118872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代码助手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663440" y="171907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36592" y="1792224"/>
            <a:ext cx="548640" cy="237744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36592" y="1792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固定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358384" y="171907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System Prompt（代码规范+技术栈）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2212848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36592" y="2286000"/>
            <a:ext cx="548640" cy="23774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36592" y="2286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358384" y="22128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当前打开的文件内容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270662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36592" y="2779776"/>
            <a:ext cx="5486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36592" y="27797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358384" y="27066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相关文件（import 分析自动找）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63440" y="3200400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36592" y="3273552"/>
            <a:ext cx="5486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36592" y="3273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5358384" y="32004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最近 5 轮对话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663440" y="3694176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36592" y="3767328"/>
            <a:ext cx="548640" cy="23774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36592" y="3767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条件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358384" y="36941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错误日志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663440" y="4187952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36592" y="4261104"/>
            <a:ext cx="548640" cy="23774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36592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必须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358384" y="41879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用户的代码问题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4279392" y="2331720"/>
            <a:ext cx="585216" cy="585216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279392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5E0"/>
                </a:solidFill>
              </a:rPr>
              <a:t>关键差异：客服需要用户画像 + 知识库  |  代码助手需要当前文件 + 关联文件。场景不同，设计不同。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LangChain RunnableParallel 实现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手动拼字符串到第三个数据源就崩了。RunnableParallel 并行获取多个上下文，比串行快 2-3 倍：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5394960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216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runnable_parallel_example.py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50876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langchain_core.runnables import (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5488" y="172821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RunnablePassthrough, RunnableParallel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194767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5488" y="216712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" y="238658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并行获取多个上下文数据源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5488" y="260604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context_chain = RunnableParallel(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5488" y="282549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user_profile = RunnablePassthrough() | get_user_profile,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5488" y="304495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knowledge    = RunnablePassthrough() | search_knowledge_base,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" y="326440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     = lambda x: x['question'],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5488" y="348386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488" y="370332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488" y="392277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context_chain | prompt | ChatOpenAI(model='gpt-4o')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5488" y="4142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chain.invoke({'user_id': 'u123', 'question': '我要退款'})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897880" y="1170432"/>
            <a:ext cx="2898648" cy="1554480"/>
          </a:xfrm>
          <a:prstGeom prst="rect">
            <a:avLst/>
          </a:prstGeom>
          <a:solidFill>
            <a:srgbClr val="FFF5F5"/>
          </a:solidFill>
          <a:ln w="19050">
            <a:solidFill>
              <a:srgbClr val="E845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07608" y="1216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</a:rPr>
              <a:t>❌ 串行（旧方式）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07608" y="1554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取用户画像  →  0.8s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07608" y="18105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查知识库    →  1.2s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07608" y="20665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取订单信息  →  1.2s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07608" y="23225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合计：       3.2s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97880" y="2834640"/>
            <a:ext cx="2898648" cy="1554480"/>
          </a:xfrm>
          <a:prstGeom prst="rect">
            <a:avLst/>
          </a:prstGeom>
          <a:solidFill>
            <a:srgbClr val="F0FFF4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07608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</a:rPr>
              <a:t>✅ 并行（RunnableParallel）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07608" y="3218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取用户画像  ┐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007608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查知识库    ┼→  1.2s（同时）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007608" y="3730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取订单信息  ┘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07608" y="3986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合计：       1.4s  🎉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22A"/>
                </a:solidFill>
              </a:rPr>
              <a:t>实测：我们的客服系统从串行改并行后，P99 延迟从 3.2 秒降到 1.4 秒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量化对比：V1 / V2 / V3 三方案对比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客服场景 50 条测试问题，3 种方案对比：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88720"/>
            <a:ext cx="256032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方案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44368" y="1188720"/>
            <a:ext cx="146304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9232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Faithfulness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07408" y="1188720"/>
            <a:ext cx="173736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 Relevancy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44768" y="1188720"/>
            <a:ext cx="128016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1188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平均延迟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24928" y="1188720"/>
            <a:ext cx="109728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月成本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" y="169164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V1: 纯 System Prompt（无 RAG）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44368" y="169164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99232" y="1691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0.45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07408" y="169164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62272" y="1691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0.62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44768" y="169164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9632" y="1691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1.2s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24928" y="1691640"/>
            <a:ext cx="1097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79792" y="16916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$200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84048" y="1691640"/>
            <a:ext cx="54864" cy="6858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048" y="2468880"/>
            <a:ext cx="256032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V2: System Prompt + RAG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944368" y="2468880"/>
            <a:ext cx="146304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99232" y="2468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0.78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407408" y="2468880"/>
            <a:ext cx="173736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62272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0.85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144768" y="2468880"/>
            <a:ext cx="128016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99632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2.1s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24928" y="2468880"/>
            <a:ext cx="109728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79792" y="2468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$350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84048" y="2468880"/>
            <a:ext cx="54864" cy="6858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84048" y="324612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8912" y="3246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V3: 完整 Context Engineering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944368" y="324612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99232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0.91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407408" y="324612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62272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0.93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144768" y="324612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99632" y="3246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1.8s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7424928" y="3246120"/>
            <a:ext cx="1097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79792" y="3246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$400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384048" y="3246120"/>
            <a:ext cx="54864" cy="6858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4048" y="4069080"/>
            <a:ext cx="406908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53C"/>
                </a:solidFill>
              </a:rPr>
              <a:t>V1 为什么这么差？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02920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只有训练数据，无私有知识 → 超过一半回答不可信（幻觉）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572000" y="4069080"/>
            <a:ext cx="4224528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81728" y="40965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V2 → V3 的关键提升：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681728" y="431596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用户画像 + 对话摘要 + 动态预算 → 延迟反而更低（1.8s vs 2.1s）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</a:rPr>
              <a:t>V3 比 V2 多 15% 成本，但 Faithfulness 从 0.78 提升到 0.91  |  动态预算控制减少了不必要检索，LLM 处理 token 更少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Pattern：项目级上下文注入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Claude Code 的 CLAUDE.md 是实际项目中最优雅的 Context Engineering 实践——分三层注入上下文：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41148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216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structure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项目根目录/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← 项目级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8368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技术栈、编码规范、架构约束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modules/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49808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CLAUDE.md  ← 模块级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1248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该模块的特殊规则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6928" y="3108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8368" y="3337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settings.json  ← 用户级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49808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个人偏好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1170432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1170432"/>
            <a:ext cx="73152" cy="86868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12252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项目级 CLAUDE.md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14904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= System Prompt（全局规则）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0600" y="17190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角色定义、技术栈约束、安全边界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2157984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2157984"/>
            <a:ext cx="73152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2212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模块级 CLAUDE.md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00600" y="24780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= RAG 检索结果（领域知识）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27066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该模块特有规则、依赖关系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63440" y="3145536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3145536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用户级 settings.json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00600" y="34655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= 用户画像（用户偏好）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00600" y="36941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个人编码习惯、输出格式偏好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84048" y="4206240"/>
            <a:ext cx="8412480" cy="438912"/>
          </a:xfrm>
          <a:prstGeom prst="rect">
            <a:avLst/>
          </a:prstGeom>
          <a:solidFill>
            <a:srgbClr val="F0FFF4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4233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实测结果：分层结构后 AI 遵循规则准确率从 72% 提升到 91%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57784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原因：每层更短、更聚焦，模型更容易"记住"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常见错误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60120"/>
            <a:ext cx="8412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60120"/>
            <a:ext cx="502920" cy="11887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960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03327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53C"/>
                </a:solidFill>
              </a:rPr>
              <a:t>把所有规则塞进一个巨大的 System Prompt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13441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问题：超过 2000 tokens 后模型对中间内容的注意力显著下降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60120" y="1655064"/>
            <a:ext cx="7726680" cy="384048"/>
          </a:xfrm>
          <a:prstGeom prst="rect">
            <a:avLst/>
          </a:prstGeom>
          <a:solidFill>
            <a:srgbClr val="E8453C">
              <a:alpha val="1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167335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453C"/>
                </a:solidFill>
              </a:rPr>
              <a:t>✅ 正确做法：用分层结构（CLAUDE.md pattern），每层短而聚焦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286000"/>
            <a:ext cx="8412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286000"/>
            <a:ext cx="502920" cy="1188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2860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0120" y="23591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128K 窗口就用 128K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26700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问题：实测超过 20K tokens 后效果开始下降，"Lost in the Middle" 问题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0120" y="2980944"/>
            <a:ext cx="7726680" cy="384048"/>
          </a:xfrm>
          <a:prstGeom prst="rect">
            <a:avLst/>
          </a:prstGeom>
          <a:solidFill>
            <a:srgbClr val="E8622A">
              <a:alpha val="10000"/>
            </a:srgbClr>
          </a:solidFill>
          <a:ln w="12700">
            <a:solidFill>
              <a:srgbClr val="E8622A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299923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622A"/>
                </a:solidFill>
              </a:rPr>
              <a:t>✅ 正确做法：保持有效 context 在 10-30K 范围内，关键信息放开头或结尾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84048" y="3611880"/>
            <a:ext cx="8412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84048" y="3611880"/>
            <a:ext cx="5029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0120" y="368503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System Prompt 里写空洞描述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60120" y="399592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问题："你是一个专业的、负责任的、有创造力的助手"——占 token 但零信息量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0120" y="4306824"/>
            <a:ext cx="7726680" cy="38404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4128" y="432511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✅ 正确做法：2000 token 的 Prompt 真正有用的往往不到 200 token，只写具体规则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82880"/>
            <a:ext cx="91440" cy="82296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2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总结：记住这几点就够了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6949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9"/>
                </a:solidFill>
              </a:rPr>
              <a:t>Context Engineering 核心要点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0972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B5BA8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1097280"/>
            <a:ext cx="73152" cy="12344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CE 不是写 Prompt，是设计系统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决定给 AI 看什么、不看什么、按什么顺序看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18888" y="10972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622A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1097280"/>
            <a:ext cx="73152" cy="12344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四种来源按需组合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System Instructions / User Input / Tool Results / Memory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4048" y="24688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24688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560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上下文是有限资源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信号密度比信息量重要，超过 20K 效果下降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18888" y="24688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18888" y="24688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560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按需加载 + 动态预算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83480" y="2971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不要预先塞入所有信息，用户问什么再检索什么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4048" y="3977640"/>
            <a:ext cx="8412480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0050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量化驱动 — 每次改动都跑评估，用数据说话而不是凭感觉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EC9"/>
                </a:solidFill>
              </a:rPr>
              <a:t>www.jiangren.com.au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</dc:title>
  <dc:subject>PptxGenJS Presentation</dc:subject>
  <dc:creator>PptxGenJS</dc:creator>
  <cp:lastModifiedBy>PptxGenJS</cp:lastModifiedBy>
  <cp:revision>1</cp:revision>
  <dcterms:created xsi:type="dcterms:W3CDTF">2026-05-05T12:27:36Z</dcterms:created>
  <dcterms:modified xsi:type="dcterms:W3CDTF">2026-05-05T12:27:36Z</dcterms:modified>
</cp:coreProperties>
</file>