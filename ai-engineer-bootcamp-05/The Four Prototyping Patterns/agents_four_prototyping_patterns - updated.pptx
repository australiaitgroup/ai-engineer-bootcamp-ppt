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56032"/>
            <a:ext cx="2011680" cy="4740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188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84048" y="1874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Prototyping Patterns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84048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理解 AI Agent 的核心构件与工程化方法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4048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JR Academy  ·  AI Engineering Bootcamp  ·  零基础适用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4709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27432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0" y="2743200"/>
            <a:ext cx="1828800" cy="1828800"/>
          </a:xfrm>
          <a:prstGeom prst="ellipse">
            <a:avLst/>
          </a:prstGeom>
          <a:solidFill>
            <a:srgbClr val="E8622A">
              <a:alpha val="15000"/>
            </a:srgbClr>
          </a:solidFill>
          <a:ln w="12700">
            <a:solidFill>
              <a:srgbClr val="E8622A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914400"/>
            <a:ext cx="3566160" cy="713232"/>
          </a:xfrm>
          <a:prstGeom prst="rect">
            <a:avLst/>
          </a:prstGeom>
          <a:solidFill>
            <a:srgbClr val="2B5BA8">
              <a:alpha val="25000"/>
            </a:srgbClr>
          </a:solidFill>
          <a:ln w="12700">
            <a:solidFill>
              <a:srgbClr val="2B5BA8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9144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  Prompt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49240" y="1874520"/>
            <a:ext cx="3566160" cy="713232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1874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  RAG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49240" y="2834640"/>
            <a:ext cx="3566160" cy="713232"/>
          </a:xfrm>
          <a:prstGeom prst="rect">
            <a:avLst/>
          </a:prstGeom>
          <a:solidFill>
            <a:srgbClr val="E8622A">
              <a:alpha val="25000"/>
            </a:srgbClr>
          </a:solidFill>
          <a:ln w="12700">
            <a:solidFill>
              <a:srgbClr val="E8622A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8346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  Agent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349240" y="3794760"/>
            <a:ext cx="3566160" cy="71323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7947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  Fine-tuning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Agent？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868680"/>
            <a:ext cx="8412480" cy="84124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86868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 = 能自主决定使用哪个工具、何时使用、如何组合工具以完成复杂任务的软件实体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" y="187452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D5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" y="1874520"/>
            <a:ext cx="3931920" cy="43891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874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普通 LLM 调用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用户输入一句话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2706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LLM 生成一次回答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结束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3328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" y="3639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特点：问一句，得一句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0352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局限：无法查数据库、调 API、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0352" y="4261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        执行多步骤任务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1874520"/>
            <a:ext cx="3950208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1874520"/>
            <a:ext cx="3950208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65192" y="1874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Agent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992624" y="2423160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0368" y="2395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用户输入目标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92624" y="2724912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0368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LLM 决定调用哪个工具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92624" y="3026664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30368" y="2999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执行工具，获得观测结果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92624" y="3328416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30368" y="33009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LLM 基于结果决定下一步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992624" y="3630168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30368" y="3602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重复直到完成任务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230368" y="3904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992624" y="4233672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30368" y="4206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特点：自主多步骤、跨系统整合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270248" y="2926080"/>
            <a:ext cx="621792" cy="6217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70248" y="2926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的四大组成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1920240"/>
            <a:ext cx="2194560" cy="11887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47472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E0"/>
                </a:solidFill>
              </a:rPr>
              <a:t>(LLM 决策器)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" y="868680"/>
            <a:ext cx="2560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868680"/>
            <a:ext cx="256032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868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LLM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7472" y="1097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决策器 / 思考器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1371600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决定下一步做什么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1719072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1673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调用哪个工具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2066544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2020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判断任务是否完成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834640" y="1554480"/>
            <a:ext cx="640080" cy="548640"/>
          </a:xfrm>
          <a:prstGeom prst="line">
            <a:avLst/>
          </a:prstGeom>
          <a:noFill/>
          <a:ln w="19050">
            <a:solidFill>
              <a:srgbClr val="2B5BA8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6345936" y="868680"/>
            <a:ext cx="2560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45936" y="868680"/>
            <a:ext cx="25603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37376" y="868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Tool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37376" y="1097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工具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55664" y="13716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38544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搜索 / 计算 / API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55664" y="17190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38544" y="1673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数据库查询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55664" y="20665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38544" y="2020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文件读取 / RAG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345936" y="1554480"/>
            <a:ext cx="-676656" cy="5486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256032" y="306324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56032" y="3063240"/>
            <a:ext cx="25603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🧩 Memory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47472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记忆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356616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保持会话上下文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65760" y="39136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3867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中间状态传递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65760" y="42611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4215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长期记忆存储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834640" y="3657600"/>
            <a:ext cx="640080" cy="-82296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345936" y="306324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345936" y="3063240"/>
            <a:ext cx="256032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37376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 Observation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437376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观测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455664" y="3566160"/>
            <a:ext cx="128016" cy="12801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38544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工具执行后的输出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455664" y="3913632"/>
            <a:ext cx="128016" cy="12801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38544" y="3867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作为 LLM 下一步输入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455664" y="4261104"/>
            <a:ext cx="128016" cy="12801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638544" y="4215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驱动下一轮决策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345936" y="3657600"/>
            <a:ext cx="-676656" cy="-822960"/>
          </a:xfrm>
          <a:prstGeom prst="line">
            <a:avLst/>
          </a:prstGeom>
          <a:noFill/>
          <a:ln w="19050">
            <a:solidFill>
              <a:srgbClr val="E8622A"/>
            </a:solidFill>
            <a:prstDash val="dash"/>
          </a:ln>
        </p:spPr>
      </p:sp>
      <p:sp>
        <p:nvSpPr>
          <p:cNvPr id="55" name="Shape 52"/>
          <p:cNvSpPr/>
          <p:nvPr/>
        </p:nvSpPr>
        <p:spPr>
          <a:xfrm>
            <a:off x="3474720" y="3200400"/>
            <a:ext cx="2194560" cy="594360"/>
          </a:xfrm>
          <a:prstGeom prst="rect">
            <a:avLst/>
          </a:prstGeom>
          <a:solidFill>
            <a:srgbClr val="E8453C">
              <a:alpha val="15000"/>
            </a:srgbClr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520440" y="3218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53C"/>
                </a:solidFill>
              </a:rPr>
              <a:t>⛔ Stop Criteria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453C"/>
                </a:solidFill>
              </a:rPr>
              <a:t>达到目标 / 超过步数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是什么？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4E"/>
                </a:solidFill>
              </a:rPr>
              <a:t>每个 Tool 有三要素：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170432"/>
            <a:ext cx="2743200" cy="41148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11704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" y="1645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工具名称，LLM 用来识别并调用它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" y="2286000"/>
            <a:ext cx="2542032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10128" y="117043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10128" y="1170432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19856" y="11704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19856" y="1645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实际执行的函数/方法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19856" y="2286000"/>
            <a:ext cx="2542032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0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calculator_tool(input): ...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36208" y="117043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36208" y="1170432"/>
            <a:ext cx="2743200" cy="4114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45936" y="11704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45936" y="1645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描述工具能做什么，LLM 读这段文字来决定何时调用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45936" y="2286000"/>
            <a:ext cx="2542032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Performs arithmetic expressions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4048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4E"/>
                </a:solidFill>
              </a:rPr>
              <a:t>Tool 设计四原则：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84048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84048" y="3337560"/>
            <a:ext cx="201168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单一职责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75488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一个 tool 只做一件事（搜索、计算、写表格）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60320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560320" y="333756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5176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契约明确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651760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明确输入/输出格式，返回结构化 JSON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36592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36592" y="3337560"/>
            <a:ext cx="201168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28032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 幂等可重试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828032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工具最好幂等，失败时可安全重试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912864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912864" y="3337560"/>
            <a:ext cx="2011680" cy="38404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04304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 边界与权限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004304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对外部资源做权限控制，谨防滥用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的工作流程：决策循环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Agent 不是一次性调用，而是一个持续循环的决策过程——直到任务完成为止：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F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261872"/>
            <a:ext cx="173736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INPUT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接收用户目标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用户输入任务或问题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39696" y="2148840"/>
            <a:ext cx="530352" cy="0"/>
          </a:xfrm>
          <a:prstGeom prst="line">
            <a:avLst/>
          </a:prstGeom>
          <a:noFill/>
          <a:ln w="25400">
            <a:solidFill>
              <a:srgbClr val="1A1F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21408" y="19476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4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30428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304288" y="1261872"/>
            <a:ext cx="173736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744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THINK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39572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BA8"/>
                </a:solidFill>
              </a:rPr>
              <a:t>LLM 思考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39572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选择工具、生成工具输入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59936" y="2148840"/>
            <a:ext cx="530352" cy="0"/>
          </a:xfrm>
          <a:prstGeom prst="line">
            <a:avLst/>
          </a:prstGeom>
          <a:noFill/>
          <a:ln w="25400">
            <a:solidFill>
              <a:srgbClr val="1A1F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41648" y="19476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4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22452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24528" y="1261872"/>
            <a:ext cx="173736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9768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ACT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31596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执行工具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1596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调用 Tool，获取结果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80176" y="2148840"/>
            <a:ext cx="530352" cy="0"/>
          </a:xfrm>
          <a:prstGeom prst="line">
            <a:avLst/>
          </a:prstGeom>
          <a:noFill/>
          <a:ln w="25400">
            <a:solidFill>
              <a:srgbClr val="1A1F4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61888" y="19476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4E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14476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44768" y="1261872"/>
            <a:ext cx="1737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OBSERVE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3620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获取观测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3620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工具结果回传给 LLM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304288" y="3246120"/>
            <a:ext cx="5321808" cy="502920"/>
          </a:xfrm>
          <a:prstGeom prst="rect">
            <a:avLst/>
          </a:prstGeom>
          <a:solidFill>
            <a:srgbClr val="EEF3FB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95728" y="32735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↩  LLM 判断：任务未完成？→ 回到 THINK，继续下一轮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246120"/>
            <a:ext cx="1737360" cy="5029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32461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⛔ 完成 / 停止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3931920"/>
            <a:ext cx="8412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84048" y="3931920"/>
            <a:ext cx="73152" cy="9144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ReAct 模式（Reason + Act）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8640" y="4279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这个循环就是著名的 ReAct（Reasoning + Acting）模式：LangChain 的 zero-shot-react-description Agent 就是实现了这个循环。LLM 每次先思考（Thought），再行动（Action），再观测（Observation），直到输出最终答案（Final Answer）。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 Agent 类型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9144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14400"/>
            <a:ext cx="420624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⚡  Reactive Agent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" y="14081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反应式 Agent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" y="1664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基于当前输入立即决定下一步，不做长期规划。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" y="2084832"/>
            <a:ext cx="4005072" cy="640080"/>
          </a:xfrm>
          <a:prstGeom prst="rect">
            <a:avLst/>
          </a:prstGeom>
          <a:solidFill>
            <a:srgbClr val="2B5BA8">
              <a:alpha val="10000"/>
            </a:srgbClr>
          </a:solidFill>
          <a:ln w="12700">
            <a:solidFill>
              <a:srgbClr val="2B5BA8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适合：简单工具调用、单步任务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例：问"今天天气怎样" → 直接调用天气 API → 返回结果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18888" y="9144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18888" y="914400"/>
            <a:ext cx="420624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28616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📋  Planner Agent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28616" y="14081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规划式 Agent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28616" y="1664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先制定中长期步骤计划，再逐步执行，支持条件分支。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28616" y="2084832"/>
            <a:ext cx="4005072" cy="640080"/>
          </a:xfrm>
          <a:prstGeom prst="rect">
            <a:avLst/>
          </a:prstGeom>
          <a:solidFill>
            <a:srgbClr val="E8622A">
              <a:alpha val="10000"/>
            </a:srgbClr>
          </a:solidFill>
          <a:ln w="12700">
            <a:solidFill>
              <a:srgbClr val="E8622A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22A"/>
                </a:solidFill>
              </a:rPr>
              <a:t>适合：复杂多步骤任务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8348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例：写报告 → 先规划：搜索→整理→写作→校对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84048" y="29718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84048" y="297180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3776" y="2971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🔧  Tool-using Agent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3776" y="3465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工具驱动 Agent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3776" y="3721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核心能力是调用并组合多种工具，LangChain Agent 的典型实现。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93776" y="4142232"/>
            <a:ext cx="4005072" cy="6400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适合：需要跨系统整合的任务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864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例：先 Search → 再 Calculator → 再 FileWrite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18888" y="29718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18888" y="2971800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28616" y="2971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💬  Conversational Agent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928616" y="3465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对话式 Agent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28616" y="3721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带会话记忆（Memory），能在多轮交互中保持上下文。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928616" y="4142232"/>
            <a:ext cx="4005072" cy="64008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8348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适合：客服、助手类多轮交互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98348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例：第1轮问产品→第5轮仍记得你的偏好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01：最小 Agent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从零开始：定义两个工具（Calculator + Search），初始化 Agent，运行：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52144"/>
            <a:ext cx="539496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minimal_agent.py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4813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 import OpenAI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5488" y="16870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Tool, initialize_agent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5488" y="18928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5488" y="20985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OpenAI(temperature=0)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488" y="23042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5488" y="25100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calculator_tool(input_str: str) -&gt; str: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" y="27157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str(eval(input_str))  # 注意安全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5488" y="29215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" y="31272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search_tool(query: str) -&gt; str: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488" y="33329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f"Search results for '{query}': ..."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5488" y="35387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5488" y="37444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5488" y="39502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Tool(name="Calculator", func=calculator_tool,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75488" y="41559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description="Performs arithmetic"),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" y="43616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Tool(name="Search", func=search_tool,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488" y="45674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description="Searches documents"),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5488" y="47731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5488" y="49789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initialize_agent(tools, llm,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5488" y="51846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agent="zero-shot-react-description",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5488" y="53903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verbose=True)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897880" y="1152144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7880" y="1152144"/>
            <a:ext cx="749808" cy="62179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97880" y="1152144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693408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导入 LangChain 必要模块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897880" y="1865376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97880" y="1865376"/>
            <a:ext cx="7498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97880" y="1865376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693408" y="19019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初始化 LLM（决策器）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temperature=0 使输出更稳定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897880" y="2578608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97880" y="2578608"/>
            <a:ext cx="749808" cy="6217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97880" y="2578608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693408" y="261518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定义工具函数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calculator_tool / search_tool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97880" y="3291840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97880" y="3291840"/>
            <a:ext cx="7498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97880" y="329184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693408" y="33284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用 Tool 包装：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name + func + description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97880" y="4005072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97880" y="4005072"/>
            <a:ext cx="749808" cy="62179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97880" y="4005072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693408" y="404164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initialize_agent 把 LLM 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Tools 组合成可运行的 Agent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agent.run("Find the population of Australia and then add 1000.")  →  Agent 自动决定先 Search 再 Calculator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02：RAG 封装成 Tool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把已有的 RAG pipeline 包装成 Tool，让 Agent 把文档问答能力作为工具使用：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架构图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1572768"/>
            <a:ext cx="237744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572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用户输入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47088" y="1956816"/>
            <a:ext cx="0" cy="164592"/>
          </a:xfrm>
          <a:prstGeom prst="line">
            <a:avLst/>
          </a:prstGeom>
          <a:noFill/>
          <a:ln w="19050">
            <a:solidFill>
              <a:srgbClr val="1A1F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121408"/>
            <a:ext cx="237744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121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(LLM)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847088" y="2505456"/>
            <a:ext cx="0" cy="164592"/>
          </a:xfrm>
          <a:prstGeom prst="line">
            <a:avLst/>
          </a:prstGeom>
          <a:noFill/>
          <a:ln w="19050">
            <a:solidFill>
              <a:srgbClr val="2B5B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2670048"/>
            <a:ext cx="237744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DocumentQA Tool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47088" y="3054096"/>
            <a:ext cx="0" cy="164592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218688"/>
            <a:ext cx="2377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47088" y="3602736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767328"/>
            <a:ext cx="23774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3767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向量数据库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56432" y="1152144"/>
            <a:ext cx="5340096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84448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67328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agent_with_docqa.py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547872" y="1481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Tool, initialize_agent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3547872" y="16962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langchain.chat_models import ChatOpenAI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3547872" y="19110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3547872" y="21259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ChatOpenAI(temperature=0)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3547872" y="23408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3547872" y="25557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rag_qa 是你已有的 RAG pipeline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3547872" y="2770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doc_qa_tool(query: str) -&gt; str: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3547872" y="29855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rag_qa(query)  # 直接复用现有 RAG</a:t>
            </a:r>
            <a:endParaRPr lang="en-US" sz="820" dirty="0"/>
          </a:p>
        </p:txBody>
      </p:sp>
      <p:sp>
        <p:nvSpPr>
          <p:cNvPr id="36" name="Text 33"/>
          <p:cNvSpPr/>
          <p:nvPr/>
        </p:nvSpPr>
        <p:spPr>
          <a:xfrm>
            <a:off x="3547872" y="32004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3547872" y="34152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= Tool(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3547872" y="36301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name="DocumentQA",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3547872" y="38450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func=doc_qa_tool,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547872" y="40599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description="Answer questions using uploaded docs"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3547872" y="42748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20" dirty="0"/>
          </a:p>
        </p:txBody>
      </p:sp>
      <p:sp>
        <p:nvSpPr>
          <p:cNvPr id="42" name="Text 39"/>
          <p:cNvSpPr/>
          <p:nvPr/>
        </p:nvSpPr>
        <p:spPr>
          <a:xfrm>
            <a:off x="3547872" y="4489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initialize_agent([tool], llm,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3547872" y="47045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agent="zero-shot-react-description")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384048" y="4736592"/>
            <a:ext cx="8412480" cy="274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488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</a:rPr>
              <a:t>优点：把复杂 RAG 封装为单一 Tool，Agent 可以组合使用：先查文档 → 再生成 PPT 提纲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03：加入 Memory（多轮任务）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Memory 让 Agent 在多轮对话中保持上下文，不再"失忆"：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52144"/>
            <a:ext cx="512064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agent_with_memory.py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48132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langchain.memory import ConversationBufferMemory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475488" y="169621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initialize_agent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475488" y="191109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475488" y="212598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ConversationBufferMemory(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475488" y="234086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memory_key="chat_history",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475488" y="25557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return_messages=True)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475488" y="277063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5488" y="29855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initialize_agent(tools, llm,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475488" y="32004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agent="zero-shot-react-description",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75488" y="341528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memory=memory)  # 注入 memory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475488" y="363016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475488" y="384505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agent.run("Find the latest sales for product X.")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475488" y="40599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agent.run("Compare with last month and explain trend.")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475488" y="42748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第2次调用能利用第1次的上下文!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5623560" y="1152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Memory 类型对比：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23560" y="1481328"/>
            <a:ext cx="3172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23560" y="1481328"/>
            <a:ext cx="73152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0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ConversationBufferMemory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760720" y="1773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完整保存所有对话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简单但占 token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23560" y="2167128"/>
            <a:ext cx="3172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23560" y="2167128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2203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ConversationSummaryMemory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60720" y="2459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自动摘要旧对话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节省 token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23560" y="2852928"/>
            <a:ext cx="3172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23560" y="2852928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6072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VectorStoreMemory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760720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向量化存储长期记忆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按相关性检索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84048" y="3657600"/>
            <a:ext cx="8412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75488" y="3703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868680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Memory 注意事项：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68680" y="3977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Memory 会保存对话历史并占用 token，对话越长成本越高。应做摘要或裁剪策略：每 10 轮做一次摘要，保留关键决策，丢弃寒暄。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84048" y="4407408"/>
            <a:ext cx="406908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" y="4434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❌ 无 Memory：第2轮不知道第1轮说了什么，用户被迫重复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27448" y="4407408"/>
            <a:ext cx="406908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18888" y="4434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✅ 有 Memory：Agent 自动记住上下文，多轮任务流畅推进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04：Planner + Executor（自定义逻辑）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对复杂任务，显式的规划器 + 执行器比单纯 ReAct 更可控，便于监控与断点重试：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52144"/>
            <a:ext cx="512064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planner_executor.py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481328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Planner: LLM 生成步骤计划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5488" y="1689811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plan_prompt = "Given goal: {goal},"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5488" y="1898294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"output a numbered plan."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5488" y="2106778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488" y="2315261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= llm.generate(plan_prompt.format(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5488" y="2523744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goal="Write 3-slide summary of doc X"))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" y="2732227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plan: 1.search 2.extract 3.summarize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5488" y="2940710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" y="3149194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Executor: 按计划逐步执行工具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488" y="3357677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parsed_plan: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5488" y="3566160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step.type == "search":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5488" y="3774643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 = search_tool(step.input)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5488" y="3983126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step.type == "summarize":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75488" y="4191610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 = summarizer_tool(step.input)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" y="4400093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obs 反馈给下一步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488" y="4608576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5488" y="4817059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组装最终输出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5488" y="5025542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llm.generate("Assemble slides...")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623560" y="1152144"/>
            <a:ext cx="317296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623560" y="1152144"/>
            <a:ext cx="3172968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33288" y="11521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Planner（规划器）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733288" y="15910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基于目标生成步骤列表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33288" y="18836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由 LLM 担任控制器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733288" y="21762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输出结构化计划（JSON/编号）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23560" y="2852928"/>
            <a:ext cx="317296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623560" y="2852928"/>
            <a:ext cx="3172968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33288" y="28529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Executor（执行器）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733288" y="3291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按计划逐步调用工具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733288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把观测结果回传 Planner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733288" y="38770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支持断点重试与监控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💡 适合场景：多步骤、需要条件分支的复杂任务；比 ReAct 更可控，便于监控每一步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深入 01：Agent Logging 系统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Agent 自主运行时你看不见它在"想什么"——Logging 是让 Agent 可调试、可审计的唯一方法：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411480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170432"/>
            <a:ext cx="4114800" cy="41148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170432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每一步应该记录什么？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1691640"/>
            <a:ext cx="822960" cy="50292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389888" y="17282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LLM 的推理过程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"我需要先搜索澳大利亚人口..."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395728"/>
            <a:ext cx="822960" cy="5029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395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389888" y="243230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调用了哪个 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工具名称 + 输入参数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3099816"/>
            <a:ext cx="8229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0998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389888" y="313639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工具返回了什么结果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原始输出 + 状态码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803904"/>
            <a:ext cx="82296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80390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389888" y="38404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Agent 的最终输出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以及经过了几步才完成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63440" y="1170432"/>
            <a:ext cx="4133088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1261872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74336" y="1216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agent_logging.py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54880" y="150876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langchain.callbacks import StdOutCallbackHandler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4754880" y="1708099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langchain.callbacks import FileCallbackHandler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4754880" y="190743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4754880" y="210677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verbose=True 打印每步 Thought/Action/Obs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4754880" y="2306117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initialize_agent(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4754880" y="25054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tools, llm,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4754880" y="2704795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verbose=True,  # 开启日志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4754880" y="290413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callbacks=[StdOutCallbackHandler(),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4754880" y="310347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FileCallbackHandler('agent.log')]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4754880" y="3302813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4754880" y="350215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4754880" y="3701491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输出示例：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4754880" y="390083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Entering new AgentExecutor chain...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4754880" y="410017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I need to search for population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4754880" y="4299509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Search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4754880" y="449884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'Australia population 2025'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4754880" y="4698187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26.5 million (2025 estimate)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4754880" y="489752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26,501,000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💡 三级 Logging 策略：verbose=True（开发调试）→ FileCallbackHandler（测试留档）→ LangSmith（生产监控）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深入 02：解读 Agent Output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工具执行后返回的 Observation 直接影响 LLM 的下一步决策——好的 Observation 设计是 Agent 稳定运行的关键：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234440"/>
            <a:ext cx="1920240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 执行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6642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调用外部服务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/函数/API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22576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22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487168" y="1234440"/>
            <a:ext cx="19202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6032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60320" y="16642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原始返回结果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传回给 LLM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425696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590288" y="1234440"/>
            <a:ext cx="1920240" cy="100584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 解读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63440" y="16642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基于 Obs 决定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下一步行动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28816" y="1463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BA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693408" y="1234440"/>
            <a:ext cx="19202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6656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继续 / 停止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66560" y="16642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再次 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F0FF"/>
                </a:solidFill>
              </a:rPr>
              <a:t>或输出答案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4048" y="2423160"/>
            <a:ext cx="40690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84048" y="2423160"/>
            <a:ext cx="4069080" cy="38404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423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糟糕的 Observation 设计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2880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53C"/>
                </a:solidFill>
              </a:rPr>
              <a:t>返回原始 HTML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3090672"/>
            <a:ext cx="38404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310896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class='result'&gt;26.5M&lt;/div&gt;...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2920" y="3447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53C"/>
                </a:solidFill>
              </a:rPr>
              <a:t>无结构纯文本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" y="3657600"/>
            <a:ext cx="38404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367588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something maybe 26 or 27 million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2920" y="4014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53C"/>
                </a:solidFill>
              </a:rPr>
              <a:t>无 error 信息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2920" y="4224528"/>
            <a:ext cx="38404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28" y="424281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709160" y="2423160"/>
            <a:ext cx="4087368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09160" y="2423160"/>
            <a:ext cx="4087368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28032" y="2423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好的 Observation 设计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828032" y="2880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结构化 JSON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828032" y="3090672"/>
            <a:ext cx="38404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92040" y="310896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{"population": 26500000, "year": 2025}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828032" y="3447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明确状态字段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828032" y="3657600"/>
            <a:ext cx="38404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92040" y="367588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 "ok", "data": "26.5M"}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828032" y="4014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清晰错误信息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828032" y="4224528"/>
            <a:ext cx="38404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92040" y="424281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 "error", "msg": "timeout"}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22A"/>
                </a:solidFill>
              </a:rPr>
              <a:t>原则：Observation 要让 LLM 一眼读懂——结构化 &gt; 纯文本，有 status/error 字段 &gt; 裸返回值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 Agent 时的安全与可控性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Agent 会自主调用工具——安全设计从一开始就要考虑，不是事后补救：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170432"/>
            <a:ext cx="2697480" cy="43891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11704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限制工具范围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" y="16824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只暴露必要工具，避免不受控访问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❌ 不要暴露任意 shell 或网络访问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36976" y="1170432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36976" y="1170432"/>
            <a:ext cx="269748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46704" y="11704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输入/输出校验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46704" y="16824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工具输入与 LLM 输出都需校验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避免注入攻击或格式错误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89904" y="1170432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9904" y="1170432"/>
            <a:ext cx="269748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11704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速率与成本控制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99632" y="16824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限制调用频率、并发、单次最大 tokens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防止高额费用暴增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4048" y="3136392"/>
            <a:ext cx="39776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" y="3136392"/>
            <a:ext cx="39776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313639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日志与可观测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3776" y="364845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记录每一步决策、工具调用与返回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便于审计与调试复现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00016" y="3136392"/>
            <a:ext cx="39776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0016" y="3136392"/>
            <a:ext cx="3977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9744" y="313639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降级策略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09744" y="364845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关键工具不可用时有安全降级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返回失败信息或替代方案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黄金法则：先在封闭 sandbox 中验证工具调用路径与安全性，再放到生产环境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 vs 常见陷阱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914400"/>
            <a:ext cx="4114800" cy="41148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最佳实践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914400"/>
            <a:ext cx="4133088" cy="41148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常见陷阱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84048" y="14173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" y="155448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限制工具权限，只暴露必要工具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1965960"/>
            <a:ext cx="411480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" y="210312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为每个 Tool 明确定义输入/输出格式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" y="25146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" y="265176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设置最大步数与成本预算上限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4048" y="3063240"/>
            <a:ext cx="411480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320040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记录每步思考、调用与返回（trace）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4048" y="36118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" y="374904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为 memory 做摘要生命周期管理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84048" y="4160520"/>
            <a:ext cx="411480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3776" y="429768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9808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先做小规模 sandbox 测试再上生产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1417320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73168" y="155448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把任意 shell / 网络访问直接暴露给 Agent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63440" y="1965960"/>
            <a:ext cx="4133088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73168" y="210312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工具描述模糊，导致 LLM 误用工具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663440" y="2514600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73168" y="265176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不做停止条件，导致无限循环费用暴增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663440" y="3063240"/>
            <a:ext cx="4133088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73168" y="320040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忽视日志，出问题时无法复现决策路径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663440" y="3611880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73168" y="374904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292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过度自动化，没有人工回退机制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63440" y="4160520"/>
            <a:ext cx="4133088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73168" y="429768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忽略成本，高并发工具迅速消耗预算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82880"/>
            <a:ext cx="91440" cy="82296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82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6949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9"/>
                </a:solidFill>
              </a:rPr>
              <a:t>Agents = LLM + Tools + Planner/Executor + Memory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" y="107899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B5BA8">
                <a:alpha val="7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1078992"/>
            <a:ext cx="73152" cy="126187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Agent 的本质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5544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LLM 作为决策器，自主选择工具、执行、观测、再决策——把人类"选工具"的能力给程序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18888" y="107899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622A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888" y="1078992"/>
            <a:ext cx="73152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Tool 设计要点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83480" y="15544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单一职责、契约明确（name/func/description）、幂等可重试、权限受限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4048" y="249631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" y="2496312"/>
            <a:ext cx="73152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工作流程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ReAct 循环：Think → Act → Observe → 重复，直到完成或触发停止条件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18888" y="249631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18888" y="2496312"/>
            <a:ext cx="7315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工程化三要素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83480" y="2971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可追踪（日志）+ 可回放（trace）+ 可校验（输入输出结构化）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4048" y="3977640"/>
            <a:ext cx="8412480" cy="6217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0050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练习路径：先实现 Calculator + Search 小 Agent → 封装 RAG 为 Tool → 加 Memory → 加监控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84048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EC9"/>
                </a:solidFill>
              </a:rPr>
              <a:t>www.jiangren.com.au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Four Prototyping Patterns</dc:title>
  <dc:subject>PptxGenJS Presentation</dc:subject>
  <dc:creator>PptxGenJS</dc:creator>
  <cp:lastModifiedBy>PptxGenJS</cp:lastModifiedBy>
  <cp:revision>1</cp:revision>
  <dcterms:created xsi:type="dcterms:W3CDTF">2026-05-08T11:13:52Z</dcterms:created>
  <dcterms:modified xsi:type="dcterms:W3CDTF">2026-05-08T11:13:52Z</dcterms:modified>
</cp:coreProperties>
</file>